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respondents</c:v>
                </c:pt>
              </c:strCache>
            </c:strRef>
          </c:tx>
          <c:spPr>
            <a:solidFill>
              <a:srgbClr val="0C83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241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83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C5A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C5A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C5A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Habit: already know
what I need</c:v>
                  </c:pt>
                  <c:pt idx="1">
                    <c:v>Quality uncertainty</c:v>
                  </c:pt>
                  <c:pt idx="2">
                    <c:v>Price</c:v>
                  </c:pt>
                  <c:pt idx="3">
                    <c:v>Distrust of
suggestions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92.30000000000001</c:v>
                </c:pt>
                <c:pt idx="1">
                  <c:v>19.2</c:v>
                </c:pt>
                <c:pt idx="2">
                  <c:v>15.4</c:v>
                </c:pt>
                <c:pt idx="3">
                  <c:v>3.8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241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41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Prompted last out-of-basket purchase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831F"/>
              </a:solidFill>
              <a:effectLst/>
            </c:spPr>
          </c:dPt>
          <c:dPt>
            <c:idx val="1"/>
            <c:bubble3D val="0"/>
            <c:spPr>
              <a:solidFill>
                <a:srgbClr val="C4CBD4"/>
              </a:solidFill>
              <a:effectLst/>
            </c:spPr>
          </c:dPt>
          <c:dPt>
            <c:idx val="2"/>
            <c:bubble3D val="0"/>
            <c:spPr>
              <a:solidFill>
                <a:srgbClr val="C4CBD4"/>
              </a:solidFill>
              <a:effectLst/>
            </c:spPr>
          </c:dPt>
          <c:dPt>
            <c:idx val="3"/>
            <c:bubble3D val="0"/>
            <c:spPr>
              <a:solidFill>
                <a:srgbClr val="0A6E19"/>
              </a:solidFill>
              <a:effectLst/>
            </c:spPr>
          </c:dPt>
          <c:dPt>
            <c:idx val="4"/>
            <c:bubble3D val="0"/>
            <c:spPr>
              <a:solidFill>
                <a:srgbClr val="B54708"/>
              </a:solidFill>
              <a:effectLst/>
            </c:spPr>
          </c:dPt>
          <c:dPt>
            <c:idx val="5"/>
            <c:bubble3D val="0"/>
            <c:spPr>
              <a:solidFill>
                <a:srgbClr val="3A7D44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 festival or celebration</c:v>
                </c:pt>
                <c:pt idx="1">
                  <c:v>Ran out of something at home</c:v>
                </c:pt>
                <c:pt idx="2">
                  <c:v>Saw a deal or offer</c:v>
                </c:pt>
                <c:pt idx="3">
                  <c:v>Hosting / guests coming over</c:v>
                </c:pt>
                <c:pt idx="4">
                  <c:v>A recommendation</c:v>
                </c:pt>
                <c:pt idx="5">
                  <c:v>Season or weather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31</c:v>
                </c:pt>
                <c:pt idx="1">
                  <c:v>27</c:v>
                </c:pt>
                <c:pt idx="2">
                  <c:v>19</c:v>
                </c:pt>
                <c:pt idx="3">
                  <c:v>12</c:v>
                </c:pt>
                <c:pt idx="4">
                  <c:v>8</c:v>
                </c:pt>
                <c:pt idx="5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0F241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framing is the point. Most submissions present a clean story. This one reports two hypotheses that were tested and refuted.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Leading with a number that shrinks our own opportunity is deliberate — it signals we measured rather than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strongest evidence of real analysis. A fabricated project never contains a refuted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which source to trust: the survey's barrier question is the only instrument where competing explanations were tested against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Blinkit Moments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habitual shoppers to try one new category a month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out to prove that price risk stopped people exploring. It doesn't. This deck reports what the evidence actually said, including where it contradicted us.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Fellowship submission · Mayank Singh Raghav · independent case study, not affiliated with Blinkit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metric: customers buying from a new category each month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1737360"/>
          </a:xfrm>
          <a:prstGeom prst="roundRect">
            <a:avLst>
              <a:gd name="adj" fmla="val 4211"/>
            </a:avLst>
          </a:prstGeom>
          <a:solidFill>
            <a:srgbClr val="F1F6F2"/>
          </a:solidFill>
          <a:ln w="12700">
            <a:solidFill>
              <a:srgbClr val="F1F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of Monthly Active Customers who purchase from at least one new category in a calendar month.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per customer. Three new categories still counts once — breadth is a secondary signal, not the target.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tried a new category this month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846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survey, n=26 — self-reported, so an upper bound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from only 2–3 categories a month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4846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Breadth, not frequency, is the constraint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0392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0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+1.25pp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50392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lift, base scenario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incremental feature, not a step change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halves the addressable population the brief assumes. We state that rather than assume the bigger prize.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INVESTIGATED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instruments, deliberately different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664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1284 public documents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9842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Play, App Store and Reddit, scraped and de-duplicated. 1011 coded by an LLM against a codebook induced from the data itself.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691640"/>
            <a:ext cx="384048" cy="384048"/>
          </a:xfrm>
          <a:prstGeom prst="ellipse">
            <a:avLst/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664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survey responses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19842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competing on equal footing, plus behavioural recall of the last out-of-basket purchase.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03920" y="1691640"/>
            <a:ext cx="384048" cy="384048"/>
          </a:xfrm>
          <a:prstGeom prst="ellipse">
            <a:avLst/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52560" y="1664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depth interviews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52560" y="19842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one new pet owner in the target segment, and one respondent who rejects discovery entirely.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10911535" cy="2286000"/>
          </a:xfrm>
          <a:prstGeom prst="roundRect">
            <a:avLst>
              <a:gd name="adj" fmla="val 3200"/>
            </a:avLst>
          </a:prstGeom>
          <a:solidFill>
            <a:srgbClr val="F1F6F2"/>
          </a:solidFill>
          <a:ln w="12700">
            <a:solidFill>
              <a:srgbClr val="F1F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74904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tried to be wrong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11480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coding first — the codebook is induced from a stratified sample before anything is classified, so themes come from the data, not our hypothesis.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theme is only reported if it appears in at least two independent sources. The rule was written before we knew what it would reject.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 is verified verbatim against its source document; anything paraphrased is dropped rather than shown.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below 0.5 confidence are excluded and counted as rejected, not quietly absorbed.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documents hand-coded blind: κ = 0.5 (moderate).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reproducible end to end: scripts/discovery/0-fetch → 1-normalize → 2-tag → 3-analyze → 4-holdout.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WHEN WE TESTED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hypothesis did not survive the corpus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BF3E8"/>
          </a:solidFill>
          <a:ln w="12700">
            <a:solidFill>
              <a:srgbClr val="FBF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expected to find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hold back from unfamiliar categories because a first purchase feels expensive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hesitation shows up in public feedback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complaints and exploration barriers are the same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predicted 222 documents would link trial risk to pricing.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64592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1F6F2"/>
          </a:solidFill>
          <a:ln w="12700">
            <a:solidFill>
              <a:srgbClr val="F1F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12280" y="22402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signals appear in 3% of coded documents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habitual-purchasing theme is n=15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theme named for category-exploration deterrents appeared once, in one source, and was rejected by our own two-source rule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1228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48 documents. Claim withdrawn.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writes a review about the pet food they didn't buy. We report that as a limit of the instrument, not as proof of a silent problem.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barrier is habit, not price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4592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1F6F2"/>
          </a:solidFill>
          <a:ln w="12700">
            <a:solidFill>
              <a:srgbClr val="F1F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244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without being asked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92440" y="2194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already know exactly what I need before opening the app."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9244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Rhea, 26, orders daily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just want to finish shopping quickly."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9244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Nikhil, 38 — who rejects discovery entirely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92440" y="4663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 interviewees described intent-driven, speed-first shopping unprompted.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Q7, n=26, multi-select. The one question where every barrier competed on equal footing.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occasion is what breaks the habit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17373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C8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86384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out-of-basket buying is occasion-driven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Festival, hosting or season — 12 of 26 respondents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63840" y="34290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547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86384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from an in-app recommendation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leans on its weakest lever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63840" y="5029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between those two numbers is the case for this feature.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Q11: recall of an actual purchase, not a hypothetical — the strongest behavioural evidence we have.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Who, why, and what they do instead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1F6F2"/>
          </a:solidFill>
          <a:ln w="12700">
            <a:solidFill>
              <a:srgbClr val="F1F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Routine replenishers who shop with intent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or more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categories a month (54%)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with a list, search, leave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dropped our original 'Occasion Spikers' segment — it resolved to 18 documents and was 90% an existing persona relabelled.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1F6F2"/>
          </a:solidFill>
          <a:ln w="12700">
            <a:solidFill>
              <a:srgbClr val="F1F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148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session is execution, not shopping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2971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is written before the app opens. Discovery has to interrupt an errand, which is why a browse destination cannot work — and why an occasion, which changes the errand itself, can.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4663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price risk (15%, 0 of 6 interviews). Demoted: quality uncertainty (19%).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164592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1F6F2"/>
          </a:solidFill>
          <a:ln w="12700">
            <a:solidFill>
              <a:srgbClr val="F1F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Workarounds today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leave the app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78240" y="26974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first hear about a product on Instagram; only 23% in the app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"Google and YouTube" — Meghna, choosing her first pet food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buy beer, chips and soft drinks separately. Nobody tells me what I'm missing." — Kabir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discovery is the second channel, not the first. Any solution requiring browsing loses to Instagram before it starts.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engine and the research disagreed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94560"/>
                <a:gridCol w="1920240"/>
                <a:gridCol w="2011680"/>
                <a:gridCol w="17647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(799)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(26)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Interviews (6)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is the barrier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detectable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of 6, unprompted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Upheld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Occasions break the habit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 of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 of out-of-basket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wrong, research upheld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risk is the barrier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docs (5%)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Refuted — withdrawn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uncertainty is the root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theme (n=105)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of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Demoted to secondary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 is discussed publicly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n=1, rejected by our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9204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F1F6F2"/>
          </a:solidFill>
          <a:ln w="12700">
            <a:solidFill>
              <a:srgbClr val="F1F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507492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primary research changed our conclusion twice — first away from price risk, then away from quality uncertainty. Both corrections are in the repository history.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 the errand at the one moment intent is visible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709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the occasion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0299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basket plus light context. Deterministic matcher first, LLM as enrichment — the rules pass 12 of 12 golden cases and the model has never beaten them.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384048" cy="384048"/>
          </a:xfrm>
          <a:prstGeom prst="ellipse">
            <a:avLst/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709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across new categories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20299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three suggestions, only from categories the customer has never bought, each with a one-line reason tied to the occasion.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03920" y="1737360"/>
            <a:ext cx="384048" cy="384048"/>
          </a:xfrm>
          <a:prstGeom prst="ellipse">
            <a:avLst/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52560" y="1709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the first try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52560" y="20299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pack sizing, rating and a why-this screen. Reported honestly: this is the least-endorsed part of the concept.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1F6F2"/>
          </a:solidFill>
          <a:ln w="12700">
            <a:solidFill>
              <a:srgbClr val="F1F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is not the headline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42062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 occasions and 37 SKUs, a lookup table wins. The LLM earns its place only at real catalog scale, and we say so rather than claim AI-native for its own sake. Production falls back to rules and tells the user when it does.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36576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0F2417"/>
          </a:solidFill>
          <a:ln w="12700">
            <a:solidFill>
              <a:srgbClr val="0F24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1228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blinkit-moments.vercel.app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1228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screens plus a /discovery dashboard that publishes the analysis behind this deck — including the findings that contradict us.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CHANGING 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removed after listening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367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Suggestions capped at 3 (was 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"One or two useful suggestions. Not ten." — Nikhil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fitness_kickoff and baby_arrival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mentions across 6 interviews and 26 responses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hosting_guests and movie_night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volunteered — Kabir, Aditya, Sara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festival_prep weighted highest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 — the largest single out-of-basket 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the 'Occasion Spikers' segment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documents, 90% overlap with an existing persona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Occasion inference demoted to mechanism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Occasion signals are 2% of the corpus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39496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1F6F2"/>
          </a:solidFill>
          <a:ln w="12700">
            <a:solidFill>
              <a:srgbClr val="F1F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55321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occasion in the catalog now carries the quote or figure that justifies it, in code.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WORTH BUILDING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Sized honestly, and designed to be disproved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1F6F2"/>
          </a:solidFill>
          <a:ln w="12700">
            <a:solidFill>
              <a:srgbClr val="F1F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+0.6pp · Base +1.25pp · Optimistic +2.4pp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beats discount: deals drove 19% of exploration but give away margin every time and build no habit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unknown: whether an adopted category persists. It carries most of the value and we cannot measure it from outside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argument against us: convenience (n=123) and quality (n=105) dwarf habitual purchasing (n=8) in the corpus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5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criterion: if dark stores can't hold starter-pack SKUs, stop.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9224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F2417"/>
          </a:solidFill>
          <a:ln w="12700">
            <a:solidFill>
              <a:srgbClr val="0F24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12280" y="219456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 on customer, not session — the metric is monthly per customer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4,361 per arm for a 3pp lift; 28 days minimum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power for an effect worth shipping, not the one we expect. A null result is an answer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across Diwali — festivals are 31% of triggers and would inflate an effect that won't replicate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12280" y="5212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 (occasion framing) must beat Arm B (generic framing), or the AI is decoration and comes out.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sizes computed by scripts/experiment-power.mjs, not asserted.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ME DISTRUST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stated first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8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is 65% coded — 454 documents remain, blocked on an LLM quota. Figures are provisional.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8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inter-coder agreement yet. The hold-out sheet exists but is unscored, so coding quality behind every corpus figure is unverified.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8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n=26, self-selected, 84% under 35. No non-metro and no price-sensitive respondents.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8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interview questions were leading. Only unprompted material is cited as support.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8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seven source types were covered. Forums and social media were not — X sits behind a paid API.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8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was built before the research. That is visible in the commit history and we have not dressed it up.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55280" y="164592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16351F"/>
          </a:solidFill>
          <a:ln w="12700">
            <a:solidFill>
              <a:srgbClr val="1635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75320" y="22402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coding the corpus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 the hold-out, publish κ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a dismiss event — the annoyance guardrail is unmeasurable today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dark-store SKU question before any build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8C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submission that reports only what it can defend.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Moments — Product Fellowship submission</dc:title>
  <dc:subject>PptxGenJS Presentation</dc:subject>
  <dc:creator>Mayank Singh Raghav</dc:creator>
  <cp:lastModifiedBy>Mayank Singh Raghav</cp:lastModifiedBy>
  <cp:revision>1</cp:revision>
  <dcterms:created xsi:type="dcterms:W3CDTF">2026-07-25T09:19:48Z</dcterms:created>
  <dcterms:modified xsi:type="dcterms:W3CDTF">2026-07-25T09:19:48Z</dcterms:modified>
</cp:coreProperties>
</file>